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Terrain Type</c:v>
                </c:pt>
              </c:strCache>
            </c:strRef>
          </c:tx>
          <c:spPr>
            <a:solidFill>
              <a:srgbClr val="8B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AA5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D3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DB6A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8A6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575C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Accessible</c:v>
                  </c:pt>
                  <c:pt idx="1">
                    <c:v>Entangling</c:v>
                  </c:pt>
                  <c:pt idx="2">
                    <c:v>Temporizing</c:v>
                  </c:pt>
                  <c:pt idx="3">
                    <c:v>Narrow</c:v>
                  </c:pt>
                  <c:pt idx="4">
                    <c:v>Precipitous</c:v>
                  </c:pt>
                  <c:pt idx="5">
                    <c:v>Distant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DAA520">
              <a:alpha val="80000"/>
            </a:srgbClr>
          </a:solidFill>
          <a:ln w="12700">
            <a:solidFill>
              <a:srgbClr val="DAA52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 War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Timeless Strategies for Conflict and Competition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11455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Principles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15996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3159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94760" y="365760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Laying Plans: The Five Factors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741719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746819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74681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796583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Waging War: The Cost of Conflict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172542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77642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7764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1227406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by Stratagem: Winning Without Fighting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1603365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608465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084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94760" y="1658229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Dispositions: Strength and Weakness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00400" y="2034188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039288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039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089052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Energy: Momentum and Organization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00400" y="2465011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470111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247011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2519875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and Strengths: Deception and Surprise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00400" y="289583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900934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90093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94760" y="2950698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Maneuvering: The Dangers of Engagement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200400" y="3326658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3331757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33175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3381522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Tactics: Adapting to Circumstance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200400" y="3757481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0" y="3762580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7625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94760" y="3812345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Army on the March: Terrain and Logistics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200400" y="4188304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4193403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19340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94760" y="4243168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Terrain: Understanding the Battlefield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200400" y="4619127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624226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0" y="4624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794760" y="4673991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Situations: Strategic Positioning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200400" y="5049950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0" y="5055049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505504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794760" y="5104814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by Fire: Utilizing Resources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200400" y="5480773"/>
            <a:ext cx="5486400" cy="1371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5485872"/>
            <a:ext cx="438912" cy="438912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0" y="5485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794760" y="5535637"/>
            <a:ext cx="4983480" cy="3393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Spies: Intelligence Gathering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of Victory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Battlefield and the Enemy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Laying Plans: The Five Factors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Moral Law (Tao): Harmony between ruler and people.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Heaven (Ch'i): Yin and Yang, weather, seasons.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(Ti): Ground, distances, dangers, security.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Commander (Shuai): Wisdom, sincerity, benevolence, courage, strictness.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Discipline (Fa): Organization, chain of command, logistics.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Waging War: The Cost of Conflict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Costly Victory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warfare drains resources.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of troops and people declines.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may gain advantage.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swift, decisive 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Economical Victory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objectives with minimal engagement.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resources and morale.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superior strategy.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without fighting is the ultimate skill.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Maneuvers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Deception, Adaptation, and Intelligence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D3D3D3">
              <a:alpha val="70000"/>
            </a:srgbClr>
          </a:solidFill>
          <a:ln w="12700">
            <a:solidFill>
              <a:srgbClr val="D3D3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0" y="229743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B0000"/>
                </a:solidFill>
              </a:rPr>
              <a:t>Illustration of strategic planning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Attack by Stratagem: Winning Without Fighting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023360" cy="36804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supreme art of war is to subdue the enemy without fighting.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 attack strategy, then alliances, then armies.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cities is the worst of options.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 and know yourself; in a hundred battles, you will never be defeated.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Deception and Surprise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32726"/>
            <a:ext cx="512064" cy="512064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3272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051560"/>
            <a:ext cx="7589520" cy="828675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05156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Appear Weak When Strong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105156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Lull the enemy into a false sense of security.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98523"/>
            <a:ext cx="109728" cy="1463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98561"/>
            <a:ext cx="512064" cy="512064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9856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017395"/>
            <a:ext cx="7589520" cy="828675"/>
          </a:xfrm>
          <a:prstGeom prst="rect">
            <a:avLst/>
          </a:prstGeom>
          <a:solidFill>
            <a:srgbClr val="D3D3D3"/>
          </a:solidFill>
          <a:ln w="12700">
            <a:solidFill>
              <a:srgbClr val="D3D3D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201739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Appear Strong When Weak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01739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 and deter potential aggressors.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64358"/>
            <a:ext cx="109728" cy="1463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64395"/>
            <a:ext cx="512064" cy="512064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6439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2983230"/>
            <a:ext cx="7589520" cy="828675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43000" y="2983230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Feint and Misdirect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2983230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enemy into unfavorable positions.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30193"/>
            <a:ext cx="109728" cy="1463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30231"/>
            <a:ext cx="512064" cy="512064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30231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05840" y="3949065"/>
            <a:ext cx="7589520" cy="828675"/>
          </a:xfrm>
          <a:prstGeom prst="rect">
            <a:avLst/>
          </a:prstGeom>
          <a:solidFill>
            <a:srgbClr val="D3D3D3"/>
          </a:solidFill>
          <a:ln w="12700">
            <a:solidFill>
              <a:srgbClr val="D3D3D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3949065"/>
            <a:ext cx="228600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Strike When Unprepared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66160" y="3949065"/>
            <a:ext cx="44805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on moments of vulnerability.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Importance of Intelligence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10972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Spies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Sun Tzu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097280"/>
            <a:ext cx="1920240" cy="10972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knowing self and enemy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6634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Ratio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direct attack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2024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97280"/>
            <a:ext cx="1920240" cy="109728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3716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5x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76656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Ratio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capture a city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Adapting to Circumstance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Terrain, Tactics, and Leadership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Terrain and Tactical Advantage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37719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Commander's Role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 wisdom, sincerity, benevolence, courage, and strictness.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tactics to the situation.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terrain and the enemy.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discipline and morale.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by example.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AA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AA52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midst of chaos, there is also opportunity.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Sun Tzu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the Art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D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timeless principles to your challenges.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wisdom, plan meticulously, and adapt.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War: Timeless Strategies for Success</dc:title>
  <dc:subject>PptxGenJS Presentation</dc:subject>
  <dc:creator>PptxGenJS</dc:creator>
  <cp:lastModifiedBy>PptxGenJS</cp:lastModifiedBy>
  <cp:revision>1</cp:revision>
  <dcterms:created xsi:type="dcterms:W3CDTF">2026-04-07T13:16:03Z</dcterms:created>
  <dcterms:modified xsi:type="dcterms:W3CDTF">2026-04-07T13:16:03Z</dcterms:modified>
</cp:coreProperties>
</file>